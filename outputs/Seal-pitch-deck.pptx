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2000" cy="6858000" type="screen16x9"/>
  <p:notesSz cx="6858000" cy="9144000"/>
  <p:embeddedFontLst>
    <p:embeddedFont>
      <p:font typeface="Space Grotesk" charset="1"/>
      <p:regular r:id="rId15"/>
    </p:embeddedFont>
    <p:embeddedFont>
      <p:font typeface="Space Grotesk Bold" charset="1"/>
      <p:regular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font" Target="fonts/font1.fntdata"/><Relationship Id="rId16" Type="http://schemas.openxmlformats.org/officeDocument/2006/relationships/font" Target="fonts/font2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Seal is a privacy-first personal agent you text on iMessage. Built on Midnight for the Midnight Buildathon.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trust asked of personal agents today is total and unverifiable. The same goes for spending: you either trust the agent with your card or you don't.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Seal is Open Instinct plus a Midnight privacy layer built during the buildathon: memory-vault, allowance-registry, verifier and spend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memory-vault.compact uses persistentCommit, owner binding from a private witness, category commitments and nullifiers. allowance-registry.compact enforces owner-bound limits in-circuit. Private: memory text, owner secret. Public: commitments, nullifiers, attestation category, limits. Steps: 1 Commit, 2 Prove, 3 Verify, 4 Spend.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Dual-ledger model: private state via witnesses (ownerSecret) and local MEMORY.md; public state via persistentCommit commitments, category commitments, nullifiers, attestations, allowance limits. Allowance totals are deliberately public, like a card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Preprod run completed Oct 16, 2026: memory-vault deployed block 3000850, commit block 3000856, health attestation block 3000862, allowance-registry deployed. main at 88ceffe with 962 tests passing.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Draft roadmap for Wave 3 (Oct 27 to Nov 16, 2026). Edit to match the real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ckimg-ikfqqwh3.jpg"/>
          <p:cNvPicPr>
            <a:picLocks noChangeAspect="1"/>
          </p:cNvPicPr>
          <p:nvPr/>
        </p:nvPicPr>
        <p:blipFill>
          <a:blip r:embed="rId2"/>
          <a:srcRect t="4" b="4"/>
          <a:stretch>
            <a:fillRect/>
          </a:stretch>
        </p:blipFill>
        <p:spPr>
          <a:xfrm>
            <a:off x="6583680" y="0"/>
            <a:ext cx="560832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342351"/>
            <a:ext cx="5437632" cy="17566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1774"/>
              </a:lnSpc>
            </a:pPr>
            <a:r>
              <a:rPr sz="900" b="1" spc="160">
                <a:solidFill>
                  <a:srgbClr val="63627D"/>
                </a:solidFill>
                <a:latin typeface="Space Grotesk"/>
                <a:cs typeface="Space Grotesk"/>
                <a:sym typeface="Space Grotesk"/>
              </a:rPr>
              <a:t>SEAL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84992" y="6449812"/>
            <a:ext cx="548640" cy="1693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1774"/>
              </a:lnSpc>
            </a:pPr>
            <a:r>
              <a:rPr sz="900" b="1" spc="160">
                <a:solidFill>
                  <a:srgbClr val="FFFFFF"/>
                </a:solidFill>
                <a:latin typeface="Space Grotesk"/>
                <a:cs typeface="Space Grotesk"/>
                <a:sym typeface="Space Grotesk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90080"/>
            <a:ext cx="5266944" cy="720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4400" b="0">
                <a:solidFill>
                  <a:srgbClr val="14123A"/>
                </a:solidFill>
                <a:latin typeface="Space Grotesk Bold"/>
                <a:cs typeface="Space Grotesk Bold"/>
                <a:sym typeface="Space Grotesk Bold"/>
              </a:rPr>
              <a:t>Seal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586336"/>
            <a:ext cx="5266944" cy="54900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63627D"/>
                </a:solidFill>
                <a:latin typeface="Space Grotesk"/>
                <a:cs typeface="Space Grotesk"/>
                <a:sym typeface="Space Grotesk"/>
              </a:rPr>
              <a:t>A personal agent that remembers everything and proves it on Midnight without revealing a word.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75704"/>
            <a:ext cx="12192000" cy="82296"/>
          </a:xfrm>
          <a:prstGeom prst="rect">
            <a:avLst/>
          </a:prstGeom>
          <a:solidFill>
            <a:srgbClr val="1E1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58368" y="1549265"/>
            <a:ext cx="1005840" cy="25603"/>
          </a:xfrm>
          <a:prstGeom prst="rect">
            <a:avLst/>
          </a:prstGeom>
          <a:solidFill>
            <a:srgbClr val="1E1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342351"/>
            <a:ext cx="5437632" cy="17566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1774"/>
              </a:lnSpc>
            </a:pPr>
            <a:r>
              <a:rPr sz="900" b="1" spc="160">
                <a:solidFill>
                  <a:srgbClr val="63627D"/>
                </a:solidFill>
                <a:latin typeface="Space Grotesk"/>
                <a:cs typeface="Space Grotesk"/>
                <a:sym typeface="Space Grotesk"/>
              </a:rPr>
              <a:t>SEAL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84992" y="6449812"/>
            <a:ext cx="548640" cy="1693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1774"/>
              </a:lnSpc>
            </a:pPr>
            <a:r>
              <a:rPr sz="900" b="1" spc="160">
                <a:solidFill>
                  <a:srgbClr val="63627D"/>
                </a:solidFill>
                <a:latin typeface="Space Grotesk"/>
                <a:cs typeface="Space Grotesk"/>
                <a:sym typeface="Space Grotesk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60161"/>
            <a:ext cx="8917716" cy="255306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5200" b="0">
                <a:solidFill>
                  <a:srgbClr val="14123A"/>
                </a:solidFill>
                <a:latin typeface="Space Grotesk Bold"/>
                <a:cs typeface="Space Grotesk Bold"/>
                <a:sym typeface="Space Grotesk Bold"/>
              </a:rPr>
              <a:t>Your agent knows your secrets. You just have to trust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337439"/>
            <a:ext cx="5981395" cy="7528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7431"/>
              </a:lnSpc>
            </a:pPr>
            <a:r>
              <a:rPr sz="1700" b="0">
                <a:solidFill>
                  <a:srgbClr val="63627D"/>
                </a:solidFill>
                <a:latin typeface="Space Grotesk"/>
                <a:cs typeface="Space Grotesk"/>
                <a:sym typeface="Space Grotesk"/>
              </a:rPr>
              <a:t>Medications, money and private notes sit in a cloud database some operator can read.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75704"/>
            <a:ext cx="12192000" cy="82296"/>
          </a:xfrm>
          <a:prstGeom prst="rect">
            <a:avLst/>
          </a:prstGeom>
          <a:solidFill>
            <a:srgbClr val="1E1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58368" y="3012296"/>
            <a:ext cx="2098243" cy="25603"/>
          </a:xfrm>
          <a:prstGeom prst="rect">
            <a:avLst/>
          </a:prstGeom>
          <a:solidFill>
            <a:srgbClr val="1E1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288024" y="3012296"/>
            <a:ext cx="2098243" cy="25603"/>
          </a:xfrm>
          <a:prstGeom prst="rect">
            <a:avLst/>
          </a:prstGeom>
          <a:solidFill>
            <a:srgbClr val="1E1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8368" y="342351"/>
            <a:ext cx="5437632" cy="17566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1774"/>
              </a:lnSpc>
            </a:pPr>
            <a:r>
              <a:rPr sz="900" b="1" spc="160">
                <a:solidFill>
                  <a:srgbClr val="63627D"/>
                </a:solidFill>
                <a:latin typeface="Space Grotesk"/>
                <a:cs typeface="Space Grotesk"/>
                <a:sym typeface="Space Grotesk"/>
              </a:rPr>
              <a:t>SEAL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84992" y="6449812"/>
            <a:ext cx="548640" cy="1693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1774"/>
              </a:lnSpc>
            </a:pPr>
            <a:r>
              <a:rPr sz="900" b="1" spc="160">
                <a:solidFill>
                  <a:srgbClr val="63627D"/>
                </a:solidFill>
                <a:latin typeface="Space Grotesk"/>
                <a:cs typeface="Space Grotesk"/>
                <a:sym typeface="Space Grotesk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69736"/>
            <a:ext cx="7830190" cy="720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4400" b="0">
                <a:solidFill>
                  <a:srgbClr val="14123A"/>
                </a:solidFill>
                <a:latin typeface="Space Grotesk Bold"/>
                <a:cs typeface="Space Grotesk Bold"/>
                <a:sym typeface="Space Grotesk Bold"/>
              </a:rPr>
              <a:t>What changes with Seal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213464"/>
            <a:ext cx="5245608" cy="4517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1774"/>
              </a:lnSpc>
            </a:pPr>
            <a:r>
              <a:rPr sz="2325" b="0">
                <a:solidFill>
                  <a:srgbClr val="14123A"/>
                </a:solidFill>
                <a:latin typeface="Space Grotesk Bold"/>
                <a:cs typeface="Space Grotesk Bold"/>
                <a:sym typeface="Space Grotesk Bold"/>
              </a:rPr>
              <a:t>Agents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664568"/>
            <a:ext cx="5245608" cy="124356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860" b="0">
                <a:solidFill>
                  <a:srgbClr val="63627D"/>
                </a:solidFill>
                <a:latin typeface="Space Grotesk"/>
                <a:cs typeface="Space Grotesk"/>
                <a:sym typeface="Space Grotesk"/>
              </a:rPr>
              <a:t>Your memories sit in an operator's database. Spending limits are a promise in code.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8024" y="3213464"/>
            <a:ext cx="5245608" cy="4517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1774"/>
              </a:lnSpc>
            </a:pPr>
            <a:r>
              <a:rPr sz="2325" b="0">
                <a:solidFill>
                  <a:srgbClr val="14123A"/>
                </a:solidFill>
                <a:latin typeface="Space Grotesk Bold"/>
                <a:cs typeface="Space Grotesk Bold"/>
                <a:sym typeface="Space Grotesk Bold"/>
              </a:rPr>
              <a:t>With Seal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8024" y="3664568"/>
            <a:ext cx="5245608" cy="128101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860" b="0">
                <a:solidFill>
                  <a:srgbClr val="63627D"/>
                </a:solidFill>
                <a:latin typeface="Space Grotesk"/>
                <a:cs typeface="Space Grotesk"/>
                <a:sym typeface="Space Grotesk"/>
              </a:rPr>
              <a:t>Memories stay on your device. A ZK circuit enforces every limit, even if the agent is tricked.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75704"/>
            <a:ext cx="12192000" cy="82296"/>
          </a:xfrm>
          <a:prstGeom prst="rect">
            <a:avLst/>
          </a:prstGeom>
          <a:solidFill>
            <a:srgbClr val="1E1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deckimg-m7_tp3l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529" y="822960"/>
            <a:ext cx="521208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342351"/>
            <a:ext cx="5437632" cy="17566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1774"/>
              </a:lnSpc>
            </a:pPr>
            <a:r>
              <a:rPr sz="900" b="1" spc="160">
                <a:solidFill>
                  <a:srgbClr val="63627D"/>
                </a:solidFill>
                <a:latin typeface="Space Grotesk"/>
                <a:cs typeface="Space Grotesk"/>
                <a:sym typeface="Space Grotesk"/>
              </a:rPr>
              <a:t>SEAL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84992" y="6449812"/>
            <a:ext cx="548640" cy="1693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1774"/>
              </a:lnSpc>
            </a:pPr>
            <a:r>
              <a:rPr sz="900" b="1" spc="160">
                <a:solidFill>
                  <a:srgbClr val="63627D"/>
                </a:solidFill>
                <a:latin typeface="Space Grotesk"/>
                <a:cs typeface="Space Grotesk"/>
                <a:sym typeface="Space Grotesk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22960"/>
            <a:ext cx="4785116" cy="720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4400" b="0">
                <a:solidFill>
                  <a:srgbClr val="14123A"/>
                </a:solidFill>
                <a:latin typeface="Space Grotesk Bold"/>
                <a:cs typeface="Space Grotesk Bold"/>
                <a:sym typeface="Space Grotesk Bold"/>
              </a:rPr>
              <a:t>How Seal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19215"/>
            <a:ext cx="4785116" cy="82350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63627D"/>
                </a:solidFill>
                <a:latin typeface="Space Grotesk"/>
                <a:cs typeface="Space Grotesk"/>
                <a:sym typeface="Space Grotesk"/>
              </a:rPr>
              <a:t>Your memory never leaves your device. Midnight stores only commitments, and anyone can check a proof without trusting Seal.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75704"/>
            <a:ext cx="12192000" cy="82296"/>
          </a:xfrm>
          <a:prstGeom prst="rect">
            <a:avLst/>
          </a:prstGeom>
          <a:solidFill>
            <a:srgbClr val="1E1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58368" y="2309224"/>
            <a:ext cx="10875264" cy="13716"/>
          </a:xfrm>
          <a:prstGeom prst="rect">
            <a:avLst/>
          </a:prstGeom>
          <a:solidFill>
            <a:srgbClr val="1E1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342351"/>
            <a:ext cx="5437632" cy="17566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1774"/>
              </a:lnSpc>
            </a:pPr>
            <a:r>
              <a:rPr sz="900" b="1" spc="160">
                <a:solidFill>
                  <a:srgbClr val="63627D"/>
                </a:solidFill>
                <a:latin typeface="Space Grotesk"/>
                <a:cs typeface="Space Grotesk"/>
                <a:sym typeface="Space Grotesk"/>
              </a:rPr>
              <a:t>SEAL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84992" y="6449812"/>
            <a:ext cx="548640" cy="1693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1774"/>
              </a:lnSpc>
            </a:pPr>
            <a:r>
              <a:rPr sz="900" b="1" spc="160">
                <a:solidFill>
                  <a:srgbClr val="63627D"/>
                </a:solidFill>
                <a:latin typeface="Space Grotesk"/>
                <a:cs typeface="Space Grotesk"/>
                <a:sym typeface="Space Grotesk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90058"/>
            <a:ext cx="7830190" cy="720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4400" b="0">
                <a:solidFill>
                  <a:srgbClr val="14123A"/>
                </a:solidFill>
                <a:latin typeface="Space Grotesk Bold"/>
                <a:cs typeface="Space Grotesk Bold"/>
                <a:sym typeface="Space Grotesk Bold"/>
              </a:rPr>
              <a:t>What Midnight sees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69194"/>
            <a:ext cx="3478784" cy="1693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1774"/>
              </a:lnSpc>
            </a:pPr>
            <a:r>
              <a:rPr sz="900" b="1" spc="160">
                <a:solidFill>
                  <a:srgbClr val="63627D"/>
                </a:solidFill>
                <a:latin typeface="Space Grotesk"/>
                <a:cs typeface="Space Grotesk"/>
                <a:sym typeface="Space Grotesk"/>
              </a:rP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83456" y="2069194"/>
            <a:ext cx="3478784" cy="1693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1774"/>
              </a:lnSpc>
            </a:pPr>
            <a:r>
              <a:rPr sz="900" b="1" spc="160">
                <a:solidFill>
                  <a:srgbClr val="63627D"/>
                </a:solidFill>
                <a:latin typeface="Space Grotesk"/>
                <a:cs typeface="Space Grotesk"/>
                <a:sym typeface="Space Grotesk"/>
              </a:rPr>
              <a:t>WHERE IT LIVES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8544" y="2069194"/>
            <a:ext cx="3478784" cy="1693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1774"/>
              </a:lnSpc>
            </a:pPr>
            <a:r>
              <a:rPr sz="900" b="1" spc="160">
                <a:solidFill>
                  <a:srgbClr val="63627D"/>
                </a:solidFill>
                <a:latin typeface="Space Grotesk"/>
                <a:cs typeface="Space Grotesk"/>
                <a:sym typeface="Space Grotesk"/>
              </a:rPr>
              <a:t>WHO CAN READ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455528"/>
            <a:ext cx="3478784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14123A"/>
                </a:solidFill>
                <a:latin typeface="Space Grotesk"/>
                <a:cs typeface="Space Grotesk"/>
                <a:sym typeface="Space Grotesk"/>
              </a:rPr>
              <a:t>Memory 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83456" y="2455528"/>
            <a:ext cx="3478784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14123A"/>
                </a:solidFill>
                <a:latin typeface="Space Grotesk"/>
                <a:cs typeface="Space Grotesk"/>
                <a:sym typeface="Space Grotesk"/>
              </a:rPr>
              <a:t>Your device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8544" y="2455528"/>
            <a:ext cx="3478784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14123A"/>
                </a:solidFill>
                <a:latin typeface="Space Grotesk"/>
                <a:cs typeface="Space Grotesk"/>
                <a:sym typeface="Space Grotesk"/>
              </a:rPr>
              <a:t>Only 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069852"/>
            <a:ext cx="3478784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14123A"/>
                </a:solidFill>
                <a:latin typeface="Space Grotesk"/>
                <a:cs typeface="Space Grotesk"/>
                <a:sym typeface="Space Grotesk"/>
              </a:rPr>
              <a:t>Owner secret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3456" y="3069852"/>
            <a:ext cx="3478784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14123A"/>
                </a:solidFill>
                <a:latin typeface="Space Grotesk"/>
                <a:cs typeface="Space Grotesk"/>
                <a:sym typeface="Space Grotesk"/>
              </a:rPr>
              <a:t>Your device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8544" y="3069852"/>
            <a:ext cx="3478784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14123A"/>
                </a:solidFill>
                <a:latin typeface="Space Grotesk"/>
                <a:cs typeface="Space Grotesk"/>
                <a:sym typeface="Space Grotesk"/>
              </a:rPr>
              <a:t>Only you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684177"/>
            <a:ext cx="3478784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14123A"/>
                </a:solidFill>
                <a:latin typeface="Space Grotesk"/>
                <a:cs typeface="Space Grotesk"/>
                <a:sym typeface="Space Grotesk"/>
              </a:rPr>
              <a:t>Memory commitment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83456" y="3684177"/>
            <a:ext cx="3478784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14123A"/>
                </a:solidFill>
                <a:latin typeface="Space Grotesk"/>
                <a:cs typeface="Space Grotesk"/>
                <a:sym typeface="Space Grotesk"/>
              </a:rPr>
              <a:t>Midnight ledger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8544" y="3684177"/>
            <a:ext cx="3478784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14123A"/>
                </a:solidFill>
                <a:latin typeface="Space Grotesk"/>
                <a:cs typeface="Space Grotesk"/>
                <a:sym typeface="Space Grotesk"/>
              </a:rPr>
              <a:t>Anyone, reveals nothing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8501"/>
            <a:ext cx="3478784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14123A"/>
                </a:solidFill>
                <a:latin typeface="Space Grotesk"/>
                <a:cs typeface="Space Grotesk"/>
                <a:sym typeface="Space Grotesk"/>
              </a:rPr>
              <a:t>Category 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83456" y="4298501"/>
            <a:ext cx="3478784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14123A"/>
                </a:solidFill>
                <a:latin typeface="Space Grotesk"/>
                <a:cs typeface="Space Grotesk"/>
                <a:sym typeface="Space Grotesk"/>
              </a:rPr>
              <a:t>Midnight ledger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8544" y="4298501"/>
            <a:ext cx="3478784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14123A"/>
                </a:solidFill>
                <a:latin typeface="Space Grotesk"/>
                <a:cs typeface="Space Grotesk"/>
                <a:sym typeface="Space Grotesk"/>
              </a:rPr>
              <a:t>Anyone, only when you attest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912825"/>
            <a:ext cx="3478784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14123A"/>
                </a:solidFill>
                <a:latin typeface="Space Grotesk"/>
                <a:cs typeface="Space Grotesk"/>
                <a:sym typeface="Space Grotesk"/>
              </a:rPr>
              <a:t>Nullifier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83456" y="4912825"/>
            <a:ext cx="3478784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14123A"/>
                </a:solidFill>
                <a:latin typeface="Space Grotesk"/>
                <a:cs typeface="Space Grotesk"/>
                <a:sym typeface="Space Grotesk"/>
              </a:rPr>
              <a:t>Midnight ledger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8544" y="4912825"/>
            <a:ext cx="3478784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14123A"/>
                </a:solidFill>
                <a:latin typeface="Space Grotesk"/>
                <a:cs typeface="Space Grotesk"/>
                <a:sym typeface="Space Grotesk"/>
              </a:rPr>
              <a:t>Anyone, blocks replay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527150"/>
            <a:ext cx="3478784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14123A"/>
                </a:solidFill>
                <a:latin typeface="Space Grotesk"/>
                <a:cs typeface="Space Grotesk"/>
                <a:sym typeface="Space Grotesk"/>
              </a:rPr>
              <a:t>Spend limit and 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83456" y="5527150"/>
            <a:ext cx="3478784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14123A"/>
                </a:solidFill>
                <a:latin typeface="Space Grotesk"/>
                <a:cs typeface="Space Grotesk"/>
                <a:sym typeface="Space Grotesk"/>
              </a:rPr>
              <a:t>Midnight ledger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8544" y="5527150"/>
            <a:ext cx="3478784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14123A"/>
                </a:solidFill>
                <a:latin typeface="Space Grotesk"/>
                <a:cs typeface="Space Grotesk"/>
                <a:sym typeface="Space Grotesk"/>
              </a:rPr>
              <a:t>Anyone, owner stays hidden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75704"/>
            <a:ext cx="12192000" cy="82296"/>
          </a:xfrm>
          <a:prstGeom prst="rect">
            <a:avLst/>
          </a:prstGeom>
          <a:solidFill>
            <a:srgbClr val="1E1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58368" y="3161204"/>
            <a:ext cx="1081999" cy="25603"/>
          </a:xfrm>
          <a:prstGeom prst="rect">
            <a:avLst/>
          </a:prstGeom>
          <a:solidFill>
            <a:srgbClr val="1E1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4405376" y="3161204"/>
            <a:ext cx="1081999" cy="25603"/>
          </a:xfrm>
          <a:prstGeom prst="rect">
            <a:avLst/>
          </a:prstGeom>
          <a:solidFill>
            <a:srgbClr val="1E1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8152384" y="3161204"/>
            <a:ext cx="1081999" cy="25603"/>
          </a:xfrm>
          <a:prstGeom prst="rect">
            <a:avLst/>
          </a:prstGeom>
          <a:solidFill>
            <a:srgbClr val="1E1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58368" y="342351"/>
            <a:ext cx="5437632" cy="17566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1774"/>
              </a:lnSpc>
            </a:pPr>
            <a:r>
              <a:rPr sz="900" b="1" spc="160">
                <a:solidFill>
                  <a:srgbClr val="63627D"/>
                </a:solidFill>
                <a:latin typeface="Space Grotesk"/>
                <a:cs typeface="Space Grotesk"/>
                <a:sym typeface="Space Grotesk"/>
              </a:rPr>
              <a:t>SEAL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84992" y="6449812"/>
            <a:ext cx="548640" cy="1693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1774"/>
              </a:lnSpc>
            </a:pPr>
            <a:r>
              <a:rPr sz="900" b="1" spc="160">
                <a:solidFill>
                  <a:srgbClr val="63627D"/>
                </a:solidFill>
                <a:latin typeface="Space Grotesk"/>
                <a:cs typeface="Space Grotesk"/>
                <a:sym typeface="Space Grotes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090629"/>
            <a:ext cx="7830190" cy="720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4400" b="0">
                <a:solidFill>
                  <a:srgbClr val="14123A"/>
                </a:solidFill>
                <a:latin typeface="Space Grotesk Bold"/>
                <a:cs typeface="Space Grotesk Bold"/>
                <a:sym typeface="Space Grotesk Bold"/>
              </a:rPr>
              <a:t>Live on Preprod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380660"/>
            <a:ext cx="3381248" cy="12438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7600" b="0">
                <a:solidFill>
                  <a:srgbClr val="1E1B5E"/>
                </a:solidFill>
                <a:latin typeface="Space Grotesk Bold"/>
                <a:cs typeface="Space Grotesk Bold"/>
                <a:sym typeface="Space Grotesk Bold"/>
              </a:rPr>
              <a:t>962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526579"/>
            <a:ext cx="3381248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63627D"/>
                </a:solidFill>
                <a:latin typeface="Space Grotesk"/>
                <a:cs typeface="Space Grotesk"/>
                <a:sym typeface="Space Grotesk"/>
              </a:rPr>
              <a:t>Tests passing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5376" y="3380660"/>
            <a:ext cx="3381248" cy="12438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7600" b="0">
                <a:solidFill>
                  <a:srgbClr val="1E1B5E"/>
                </a:solidFill>
                <a:latin typeface="Space Grotesk Bold"/>
                <a:cs typeface="Space Grotesk Bold"/>
                <a:sym typeface="Space Grotesk Bol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5376" y="4526579"/>
            <a:ext cx="3381248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63627D"/>
                </a:solidFill>
                <a:latin typeface="Space Grotesk"/>
                <a:cs typeface="Space Grotesk"/>
                <a:sym typeface="Space Grotesk"/>
              </a:rPr>
              <a:t>Compact contracts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2384" y="3380660"/>
            <a:ext cx="3381248" cy="12438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7600" b="0">
                <a:solidFill>
                  <a:srgbClr val="1E1B5E"/>
                </a:solidFill>
                <a:latin typeface="Space Grotesk Bold"/>
                <a:cs typeface="Space Grotesk Bold"/>
                <a:sym typeface="Space Grotesk Bold"/>
              </a:rPr>
              <a:t>30/30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2384" y="4526579"/>
            <a:ext cx="3381248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63627D"/>
                </a:solidFill>
                <a:latin typeface="Space Grotesk"/>
                <a:cs typeface="Space Grotesk"/>
                <a:sym typeface="Space Grotesk"/>
              </a:rPr>
              <a:t>Sync drops recovered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75704"/>
            <a:ext cx="12192000" cy="82296"/>
          </a:xfrm>
          <a:prstGeom prst="rect">
            <a:avLst/>
          </a:prstGeom>
          <a:solidFill>
            <a:srgbClr val="1E1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58368" y="1455725"/>
            <a:ext cx="1005840" cy="25603"/>
          </a:xfrm>
          <a:prstGeom prst="rect">
            <a:avLst/>
          </a:prstGeom>
          <a:solidFill>
            <a:srgbClr val="1E1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342351"/>
            <a:ext cx="5437632" cy="17566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1774"/>
              </a:lnSpc>
            </a:pPr>
            <a:r>
              <a:rPr sz="900" b="1" spc="160">
                <a:solidFill>
                  <a:srgbClr val="63627D"/>
                </a:solidFill>
                <a:latin typeface="Space Grotesk"/>
                <a:cs typeface="Space Grotesk"/>
                <a:sym typeface="Space Grotesk"/>
              </a:rPr>
              <a:t>SEAL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84992" y="6449812"/>
            <a:ext cx="548640" cy="1693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1774"/>
              </a:lnSpc>
            </a:pPr>
            <a:r>
              <a:rPr sz="900" b="1" spc="160">
                <a:solidFill>
                  <a:srgbClr val="63627D"/>
                </a:solidFill>
                <a:latin typeface="Space Grotesk"/>
                <a:cs typeface="Space Grotesk"/>
                <a:sym typeface="Space Grotesk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66621"/>
            <a:ext cx="8047695" cy="165228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5200" b="0">
                <a:solidFill>
                  <a:srgbClr val="14123A"/>
                </a:solidFill>
                <a:latin typeface="Space Grotesk Bold"/>
                <a:cs typeface="Space Grotesk Bold"/>
                <a:sym typeface="Space Grotesk Bold"/>
              </a:rPr>
              <a:t>Next: Seal in real hands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545178"/>
            <a:ext cx="5981395" cy="7528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7431"/>
              </a:lnSpc>
            </a:pPr>
            <a:r>
              <a:rPr sz="1700" b="0">
                <a:solidFill>
                  <a:srgbClr val="63627D"/>
                </a:solidFill>
                <a:latin typeface="Space Grotesk"/>
                <a:cs typeface="Space Grotesk"/>
                <a:sym typeface="Space Grotesk"/>
              </a:rPr>
              <a:t>Wave 3 turns a working agent into one people use every 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285232"/>
            <a:ext cx="3320288" cy="17566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1774"/>
              </a:lnSpc>
            </a:pPr>
            <a:r>
              <a:rPr sz="900" b="1" spc="160">
                <a:solidFill>
                  <a:srgbClr val="1E1B5E"/>
                </a:solidFill>
                <a:latin typeface="Space Grotesk"/>
                <a:cs typeface="Space Grotesk"/>
                <a:sym typeface="Space Grotesk"/>
              </a:rPr>
              <a:t>WEB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530765"/>
            <a:ext cx="3320288" cy="53295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63627D"/>
                </a:solidFill>
                <a:latin typeface="Space Grotesk"/>
                <a:cs typeface="Space Grotesk"/>
                <a:sym typeface="Space Grotesk"/>
              </a:rPr>
              <a:t>Click-through proof flow with no wallet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5856" y="5285232"/>
            <a:ext cx="3320288" cy="17566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1774"/>
              </a:lnSpc>
            </a:pPr>
            <a:r>
              <a:rPr sz="900" b="1" spc="160">
                <a:solidFill>
                  <a:srgbClr val="1E1B5E"/>
                </a:solidFill>
                <a:latin typeface="Space Grotesk"/>
                <a:cs typeface="Space Grotesk"/>
                <a:sym typeface="Space Grotesk"/>
              </a:rPr>
              <a:t>BETA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5856" y="5530765"/>
            <a:ext cx="3320288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63627D"/>
                </a:solidFill>
                <a:latin typeface="Space Grotesk"/>
                <a:cs typeface="Space Grotesk"/>
                <a:sym typeface="Space Grotesk"/>
              </a:rPr>
              <a:t>First users texting Seal on iMessage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3344" y="5285232"/>
            <a:ext cx="3320288" cy="17566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1774"/>
              </a:lnSpc>
            </a:pPr>
            <a:r>
              <a:rPr sz="900" b="1" spc="160">
                <a:solidFill>
                  <a:srgbClr val="1E1B5E"/>
                </a:solidFill>
                <a:latin typeface="Space Grotesk"/>
                <a:cs typeface="Space Grotesk"/>
                <a:sym typeface="Space Grotesk"/>
              </a:rPr>
              <a:t>SPEND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3344" y="5530765"/>
            <a:ext cx="3320288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63627D"/>
                </a:solidFill>
                <a:latin typeface="Space Grotesk"/>
                <a:cs typeface="Space Grotesk"/>
                <a:sym typeface="Space Grotesk"/>
              </a:rPr>
              <a:t>Allowances guarding real purchases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